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58" r:id="rId2"/>
    <p:sldId id="259" r:id="rId3"/>
    <p:sldId id="272" r:id="rId4"/>
    <p:sldId id="275" r:id="rId5"/>
    <p:sldId id="260" r:id="rId6"/>
    <p:sldId id="262" r:id="rId7"/>
    <p:sldId id="263" r:id="rId8"/>
    <p:sldId id="264" r:id="rId9"/>
    <p:sldId id="265" r:id="rId10"/>
    <p:sldId id="269" r:id="rId11"/>
    <p:sldId id="261" r:id="rId12"/>
    <p:sldId id="266" r:id="rId13"/>
    <p:sldId id="267" r:id="rId14"/>
    <p:sldId id="274" r:id="rId15"/>
    <p:sldId id="273" r:id="rId16"/>
    <p:sldId id="268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C4D76-604F-40B6-AAFD-F036C1ED7046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98C5B-5AED-4153-B7A4-819012D96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05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AA17F-05B5-4CA7-A85E-6AE60ED65717}" type="slidenum">
              <a:rPr lang="en-IN" smtClean="0">
                <a:solidFill>
                  <a:prstClr val="black"/>
                </a:solidFill>
              </a:rPr>
              <a:pPr/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08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/>
              <a:pPr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35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465E9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>
                <a:solidFill>
                  <a:srgbClr val="465E9C"/>
                </a:solidFill>
              </a:rPr>
              <a:pPr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852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465E9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>
                <a:solidFill>
                  <a:srgbClr val="465E9C"/>
                </a:solidFill>
              </a:rPr>
              <a:pPr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50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465E9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>
                <a:solidFill>
                  <a:srgbClr val="465E9C"/>
                </a:solidFill>
              </a:rPr>
              <a:pPr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477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465E9C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>
                <a:solidFill>
                  <a:srgbClr val="465E9C"/>
                </a:solidFill>
              </a:rPr>
              <a:pPr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5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465E9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>
                <a:solidFill>
                  <a:srgbClr val="465E9C"/>
                </a:solidFill>
              </a:rPr>
              <a:pPr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201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465E9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>
                <a:solidFill>
                  <a:srgbClr val="465E9C"/>
                </a:solidFill>
              </a:rPr>
              <a:pPr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9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465E9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>
                <a:solidFill>
                  <a:srgbClr val="465E9C"/>
                </a:solidFill>
              </a:rPr>
              <a:pPr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60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465E9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>
                <a:solidFill>
                  <a:srgbClr val="465E9C"/>
                </a:solidFill>
              </a:rPr>
              <a:pPr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71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465E9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>
                <a:solidFill>
                  <a:srgbClr val="465E9C"/>
                </a:solidFill>
              </a:rPr>
              <a:pPr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78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srgbClr val="465E9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AC580-4E29-40A9-BB7C-7694C009D3A4}" type="slidenum">
              <a:rPr lang="en-IN" smtClean="0">
                <a:solidFill>
                  <a:srgbClr val="465E9C"/>
                </a:solidFill>
              </a:rPr>
              <a:pPr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05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48428"/>
            <a:fld id="{2C5EB718-670D-4541-8FB9-14E20C4E5EB8}" type="datetimeFigureOut">
              <a:rPr lang="en-IN" smtClean="0">
                <a:solidFill>
                  <a:srgbClr val="465E9C"/>
                </a:solidFill>
              </a:rPr>
              <a:pPr defTabSz="548428"/>
              <a:t>06-07-2024</a:t>
            </a:fld>
            <a:endParaRPr lang="en-IN">
              <a:solidFill>
                <a:srgbClr val="465E9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48428"/>
            <a:endParaRPr lang="en-IN">
              <a:solidFill>
                <a:srgbClr val="465E9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48428"/>
            <a:fld id="{881AC580-4E29-40A9-BB7C-7694C009D3A4}" type="slidenum">
              <a:rPr lang="en-IN" smtClean="0">
                <a:solidFill>
                  <a:srgbClr val="465E9C"/>
                </a:solidFill>
              </a:rPr>
              <a:pPr defTabSz="548428"/>
              <a:t>‹#›</a:t>
            </a:fld>
            <a:endParaRPr lang="en-IN">
              <a:solidFill>
                <a:srgbClr val="465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68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org/project/fasttext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2020.icon-main.61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7"/>
          <p:cNvSpPr txBox="1">
            <a:spLocks/>
          </p:cNvSpPr>
          <p:nvPr/>
        </p:nvSpPr>
        <p:spPr>
          <a:xfrm>
            <a:off x="2650344" y="5889675"/>
            <a:ext cx="2090992" cy="342900"/>
          </a:xfrm>
          <a:prstGeom prst="rect">
            <a:avLst/>
          </a:prstGeom>
        </p:spPr>
        <p:txBody>
          <a:bodyPr lIns="106651" tIns="53325" rIns="106651" bIns="53325"/>
          <a:lstStyle>
            <a:lvl1pPr marL="141048" indent="-141048" algn="l" rtl="0" eaLnBrk="1" latinLnBrk="0" hangingPunct="1">
              <a:spcBef>
                <a:spcPts val="309"/>
              </a:spcBef>
              <a:buClr>
                <a:schemeClr val="tx2"/>
              </a:buClr>
              <a:buSzPct val="73000"/>
              <a:buFont typeface="Wingdings 2"/>
              <a:buChar char=""/>
              <a:defRPr kumimoji="0"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7991" indent="-117540" algn="l" rtl="0" eaLnBrk="1" latinLnBrk="0" hangingPunct="1">
              <a:spcBef>
                <a:spcPts val="257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12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90232" indent="-117540" algn="l" rtl="0" eaLnBrk="1" latinLnBrk="0" hangingPunct="1">
              <a:spcBef>
                <a:spcPts val="206"/>
              </a:spcBef>
              <a:buClr>
                <a:schemeClr val="accent4"/>
              </a:buClr>
              <a:buSzPct val="60000"/>
              <a:buFont typeface="Wingdings"/>
              <a:buChar char=""/>
              <a:defRPr kumimoji="0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7176" indent="-11754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10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58223" indent="-117540" algn="l" rtl="0" eaLnBrk="1" latinLnBrk="0" hangingPunct="1">
              <a:spcBef>
                <a:spcPts val="206"/>
              </a:spcBef>
              <a:buClr>
                <a:schemeClr val="accent4"/>
              </a:buClr>
              <a:buSzPct val="70000"/>
              <a:buFont typeface="Wingdings"/>
              <a:buChar char="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56957" indent="-94032" algn="l" rtl="0" eaLnBrk="1" latinLnBrk="0" hangingPunct="1">
              <a:spcBef>
                <a:spcPts val="206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9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860393" indent="-9403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49723" indent="-94032" algn="l" rtl="0" eaLnBrk="1" latinLnBrk="0" hangingPunct="1">
              <a:spcBef>
                <a:spcPts val="154"/>
              </a:spcBef>
              <a:buClr>
                <a:schemeClr val="accent4"/>
              </a:buClr>
              <a:buSzPct val="100000"/>
              <a:buChar char="•"/>
              <a:defRPr kumimoji="0" sz="800" kern="1200" baseline="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057859" indent="-9403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/>
              <a:buChar char="§"/>
              <a:defRPr kumimoji="0" sz="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548370">
              <a:buClr>
                <a:srgbClr val="465E9C"/>
              </a:buClr>
            </a:pPr>
            <a:endParaRPr lang="en-US" sz="2100" dirty="0">
              <a:solidFill>
                <a:srgbClr val="00FF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200" y="381000"/>
            <a:ext cx="9067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C00000"/>
                </a:solidFill>
              </a:rPr>
              <a:t>Text to Feature Representation: </a:t>
            </a:r>
            <a:r>
              <a:rPr lang="en-US" sz="4800" dirty="0" smtClean="0">
                <a:solidFill>
                  <a:srgbClr val="00B050"/>
                </a:solidFill>
              </a:rPr>
              <a:t>Embedding Model Generation, Evaluation &amp; Feature Representation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0" y="5226784"/>
            <a:ext cx="43815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Dr. Md. Rajib Hossain</a:t>
            </a:r>
          </a:p>
          <a:p>
            <a:r>
              <a:rPr lang="en-US" sz="2000" dirty="0" smtClean="0"/>
              <a:t>Senior Software Engineer in R &amp; D</a:t>
            </a:r>
          </a:p>
          <a:p>
            <a:r>
              <a:rPr lang="en-US" sz="2000" dirty="0" err="1" smtClean="0"/>
              <a:t>TigerIT</a:t>
            </a:r>
            <a:r>
              <a:rPr lang="en-US" sz="2000" dirty="0" smtClean="0"/>
              <a:t> BD LTD.</a:t>
            </a:r>
          </a:p>
          <a:p>
            <a:r>
              <a:rPr lang="en-US" sz="2000" dirty="0" smtClean="0"/>
              <a:t>Cell: +8801720596038</a:t>
            </a:r>
          </a:p>
          <a:p>
            <a:r>
              <a:rPr lang="en-US" sz="2000" dirty="0" smtClean="0"/>
              <a:t>Email: rajcsecuet@gmail.com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8135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463045"/>
          </a:xfrm>
        </p:spPr>
        <p:txBody>
          <a:bodyPr/>
          <a:lstStyle/>
          <a:p>
            <a:r>
              <a:rPr lang="en-US" dirty="0"/>
              <a:t>Word </a:t>
            </a:r>
            <a:r>
              <a:rPr lang="en-US" dirty="0" smtClean="0"/>
              <a:t>Embeddings(1/3)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9144001" cy="50292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Idea: Learn </a:t>
            </a:r>
            <a:r>
              <a:rPr lang="en-US" sz="2800" dirty="0"/>
              <a:t>embeddings from words based on semantic, syntactic, and context-aware meanings, and represent them as vectors</a:t>
            </a:r>
            <a:r>
              <a:rPr lang="en-US" sz="2800" dirty="0" smtClean="0"/>
              <a:t>.</a:t>
            </a:r>
            <a:endParaRPr lang="en-US" sz="2800" dirty="0"/>
          </a:p>
          <a:p>
            <a:r>
              <a:rPr lang="en-US" sz="2800" dirty="0" smtClean="0"/>
              <a:t>Need to have a function W(word) that returns a vector encoding that word.  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b="1" dirty="0" smtClean="0"/>
              <a:t>Input:  </a:t>
            </a:r>
            <a:r>
              <a:rPr lang="en-US" sz="2800" dirty="0" smtClean="0"/>
              <a:t>Unlabelled Corpus </a:t>
            </a:r>
            <a:r>
              <a:rPr lang="en-US" sz="2800" b="1" dirty="0" smtClean="0"/>
              <a:t>( e.g., </a:t>
            </a:r>
            <a:r>
              <a:rPr lang="en-US" sz="2800" dirty="0" smtClean="0"/>
              <a:t>[w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 w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…, </a:t>
            </a:r>
            <a:r>
              <a:rPr lang="en-US" sz="2800" dirty="0" err="1" smtClean="0"/>
              <a:t>w</a:t>
            </a:r>
            <a:r>
              <a:rPr lang="en-US" sz="2800" baseline="-25000" dirty="0" err="1"/>
              <a:t>V</a:t>
            </a:r>
            <a:r>
              <a:rPr lang="en-US" sz="2800" dirty="0" smtClean="0"/>
              <a:t>], where V = number of words in corpus)</a:t>
            </a:r>
          </a:p>
          <a:p>
            <a:endParaRPr lang="en-US" sz="2800" dirty="0" smtClean="0"/>
          </a:p>
          <a:p>
            <a:r>
              <a:rPr lang="en-US" sz="2800" b="1" dirty="0" smtClean="0"/>
              <a:t>Output:  </a:t>
            </a:r>
            <a:r>
              <a:rPr lang="en-US" sz="2800" dirty="0" smtClean="0"/>
              <a:t>Embedding Model ( </a:t>
            </a:r>
            <a:r>
              <a:rPr lang="en-US" sz="2800" dirty="0" err="1" smtClean="0"/>
              <a:t>i,.e</a:t>
            </a:r>
            <a:r>
              <a:rPr lang="en-US" sz="2800" dirty="0" smtClean="0"/>
              <a:t>., V x </a:t>
            </a:r>
            <a:r>
              <a:rPr lang="en-US" sz="2800" dirty="0"/>
              <a:t>N</a:t>
            </a:r>
            <a:r>
              <a:rPr lang="en-US" sz="2800" dirty="0" smtClean="0"/>
              <a:t> ), where N=embedding dimension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81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463045"/>
          </a:xfrm>
        </p:spPr>
        <p:txBody>
          <a:bodyPr/>
          <a:lstStyle/>
          <a:p>
            <a:r>
              <a:rPr lang="en-US" dirty="0"/>
              <a:t>Word </a:t>
            </a:r>
            <a:r>
              <a:rPr lang="en-US" dirty="0" smtClean="0"/>
              <a:t>Embeddings(2/3)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1" cy="56388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Corpus:  </a:t>
            </a:r>
            <a:r>
              <a:rPr lang="en-US" sz="2800" dirty="0"/>
              <a:t>L</a:t>
            </a:r>
            <a:r>
              <a:rPr lang="en-US" sz="2800" dirty="0" smtClean="0"/>
              <a:t>arge structured </a:t>
            </a:r>
            <a:r>
              <a:rPr lang="en-US" sz="2800" dirty="0"/>
              <a:t>collection of text data used for training, evaluating, and analyzing language models and </a:t>
            </a:r>
            <a:r>
              <a:rPr lang="en-US" sz="2800" dirty="0" smtClean="0"/>
              <a:t>algorithms</a:t>
            </a:r>
            <a:endParaRPr lang="en-US" sz="2800" b="1" dirty="0" smtClean="0"/>
          </a:p>
          <a:p>
            <a:r>
              <a:rPr lang="en-US" sz="2800" b="1" dirty="0" smtClean="0"/>
              <a:t>Syntactic </a:t>
            </a:r>
            <a:r>
              <a:rPr lang="en-US" sz="2800" b="1" dirty="0"/>
              <a:t>meaning</a:t>
            </a:r>
            <a:r>
              <a:rPr lang="en-US" sz="2800" dirty="0"/>
              <a:t>: </a:t>
            </a:r>
            <a:r>
              <a:rPr lang="en-US" sz="2800" dirty="0" smtClean="0"/>
              <a:t> Refers </a:t>
            </a:r>
            <a:r>
              <a:rPr lang="en-US" sz="2800" dirty="0"/>
              <a:t>to the structure of a </a:t>
            </a:r>
            <a:r>
              <a:rPr lang="en-US" sz="2800" dirty="0" smtClean="0"/>
              <a:t>word and sentence</a:t>
            </a:r>
            <a:endParaRPr lang="en-US" sz="2800" dirty="0"/>
          </a:p>
          <a:p>
            <a:pPr lvl="1"/>
            <a:r>
              <a:rPr lang="en-US" dirty="0"/>
              <a:t>The cat sleeps on the mat</a:t>
            </a:r>
            <a:r>
              <a:rPr lang="en-US" dirty="0" smtClean="0"/>
              <a:t>  follows </a:t>
            </a:r>
            <a:r>
              <a:rPr lang="en-US" dirty="0"/>
              <a:t>grammatical rules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Do, Doing</a:t>
            </a:r>
          </a:p>
          <a:p>
            <a:r>
              <a:rPr lang="en-US" sz="2800" b="1" dirty="0"/>
              <a:t>Semantic meaning</a:t>
            </a:r>
            <a:r>
              <a:rPr lang="en-US" sz="2800" dirty="0"/>
              <a:t>: Refers to the meaning of words and </a:t>
            </a:r>
            <a:r>
              <a:rPr lang="en-US" sz="2800" dirty="0" smtClean="0"/>
              <a:t>sentences</a:t>
            </a:r>
            <a:endParaRPr lang="en-US" sz="2800" dirty="0"/>
          </a:p>
          <a:p>
            <a:pPr lvl="1"/>
            <a:r>
              <a:rPr lang="en-US" dirty="0" smtClean="0"/>
              <a:t> The </a:t>
            </a:r>
            <a:r>
              <a:rPr lang="en-US" dirty="0"/>
              <a:t>cat sleeps on the </a:t>
            </a:r>
            <a:r>
              <a:rPr lang="en-US" dirty="0" smtClean="0"/>
              <a:t>mat </a:t>
            </a:r>
            <a:r>
              <a:rPr lang="en-US" dirty="0"/>
              <a:t>means that a cat is resting on a mat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Beautiful, </a:t>
            </a:r>
            <a:r>
              <a:rPr lang="en-US" dirty="0" smtClean="0"/>
              <a:t>Lovely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26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463045"/>
          </a:xfrm>
        </p:spPr>
        <p:txBody>
          <a:bodyPr/>
          <a:lstStyle/>
          <a:p>
            <a:r>
              <a:rPr lang="en-US" dirty="0"/>
              <a:t>Word </a:t>
            </a:r>
            <a:r>
              <a:rPr lang="en-US" dirty="0" smtClean="0"/>
              <a:t>Embeddings(3/3)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1" cy="56388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Context</a:t>
            </a:r>
            <a:r>
              <a:rPr lang="en-US" sz="2400" dirty="0" smtClean="0"/>
              <a:t> </a:t>
            </a:r>
            <a:r>
              <a:rPr lang="en-US" sz="2400" dirty="0" smtClean="0"/>
              <a:t>: Refers </a:t>
            </a:r>
            <a:r>
              <a:rPr lang="en-US" sz="2400" dirty="0"/>
              <a:t>to the surrounding text or information that influences the meaning of a word or </a:t>
            </a:r>
            <a:r>
              <a:rPr lang="en-US" sz="2400" dirty="0" smtClean="0"/>
              <a:t>sentence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I ate an </a:t>
            </a:r>
            <a:r>
              <a:rPr lang="en-US" sz="2400" b="1" dirty="0" smtClean="0">
                <a:solidFill>
                  <a:srgbClr val="00B0F0"/>
                </a:solidFill>
              </a:rPr>
              <a:t>apple 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/>
              <a:t>vs. </a:t>
            </a:r>
            <a:r>
              <a:rPr lang="en-US" sz="2400" b="1" dirty="0" smtClean="0">
                <a:solidFill>
                  <a:srgbClr val="00B0F0"/>
                </a:solidFill>
              </a:rPr>
              <a:t>Apple</a:t>
            </a:r>
            <a:r>
              <a:rPr lang="en-US" sz="2400" dirty="0" smtClean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rgbClr val="00B050"/>
                </a:solidFill>
              </a:rPr>
              <a:t>released a new iPhone</a:t>
            </a:r>
            <a:r>
              <a:rPr lang="en-US" sz="2400" dirty="0" smtClean="0"/>
              <a:t>, </a:t>
            </a:r>
            <a:r>
              <a:rPr lang="en-US" sz="2400" dirty="0"/>
              <a:t>context helps determine whether "apple" refers to a fruit or the tech company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17251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Embedding Methods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/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Traditional:</a:t>
            </a:r>
          </a:p>
          <a:p>
            <a:pPr lvl="1"/>
            <a:r>
              <a:rPr lang="en-US" dirty="0" smtClean="0"/>
              <a:t>One-hot Encoding</a:t>
            </a:r>
          </a:p>
          <a:p>
            <a:pPr lvl="1"/>
            <a:r>
              <a:rPr lang="en-US" dirty="0" smtClean="0"/>
              <a:t>Bag of Words</a:t>
            </a:r>
          </a:p>
          <a:p>
            <a:pPr lvl="1"/>
            <a:r>
              <a:rPr lang="en-US" dirty="0" smtClean="0"/>
              <a:t>TF-IDF</a:t>
            </a:r>
          </a:p>
          <a:p>
            <a:r>
              <a:rPr lang="en-US" sz="2800" b="1" dirty="0" smtClean="0">
                <a:solidFill>
                  <a:srgbClr val="00B050"/>
                </a:solidFill>
              </a:rPr>
              <a:t>Non-Contextual:</a:t>
            </a:r>
          </a:p>
          <a:p>
            <a:pPr lvl="1"/>
            <a:r>
              <a:rPr lang="en-US" b="1" dirty="0" smtClean="0"/>
              <a:t>Word2Vec </a:t>
            </a:r>
            <a:r>
              <a:rPr lang="en-US" dirty="0" smtClean="0"/>
              <a:t>(Prediction-based/ Neural Embeddings)</a:t>
            </a:r>
          </a:p>
          <a:p>
            <a:pPr lvl="1"/>
            <a:r>
              <a:rPr lang="en-US" b="1" dirty="0" smtClean="0"/>
              <a:t>FastText </a:t>
            </a:r>
            <a:r>
              <a:rPr lang="en-US" dirty="0" smtClean="0"/>
              <a:t>(Sub-word with Prediction-based/ Neural Embeddings)</a:t>
            </a:r>
          </a:p>
          <a:p>
            <a:pPr lvl="1"/>
            <a:r>
              <a:rPr lang="en-US" b="1" dirty="0" smtClean="0"/>
              <a:t>GloVe </a:t>
            </a:r>
            <a:r>
              <a:rPr lang="en-US" dirty="0" smtClean="0"/>
              <a:t>(word-word correlation &amp; Matrix Factorization)</a:t>
            </a:r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9670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Embedding Methods (2/2)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/>
          <a:lstStyle/>
          <a:p>
            <a:r>
              <a:rPr lang="en-US" sz="2800" b="1" dirty="0" smtClean="0">
                <a:solidFill>
                  <a:srgbClr val="92D050"/>
                </a:solidFill>
              </a:rPr>
              <a:t>Contextual (</a:t>
            </a:r>
            <a:r>
              <a:rPr lang="en-US" sz="2800" dirty="0" smtClean="0">
                <a:solidFill>
                  <a:srgbClr val="92D050"/>
                </a:solidFill>
              </a:rPr>
              <a:t>Transformer-based Language Model</a:t>
            </a:r>
            <a:r>
              <a:rPr lang="en-US" sz="2800" b="1" dirty="0" smtClean="0">
                <a:solidFill>
                  <a:srgbClr val="92D050"/>
                </a:solidFill>
              </a:rPr>
              <a:t>):</a:t>
            </a:r>
            <a:endParaRPr lang="en-US" dirty="0">
              <a:solidFill>
                <a:srgbClr val="92D050"/>
              </a:solidFill>
            </a:endParaRPr>
          </a:p>
          <a:p>
            <a:pPr lvl="1"/>
            <a:r>
              <a:rPr lang="en-US" sz="2400" dirty="0" smtClean="0"/>
              <a:t>BERT (</a:t>
            </a:r>
            <a:r>
              <a:rPr lang="en-US" sz="2400" dirty="0"/>
              <a:t>Pre-training of Deep Bidirectional Transformers for Language </a:t>
            </a:r>
            <a:r>
              <a:rPr lang="en-US" sz="2400" dirty="0" smtClean="0"/>
              <a:t>Understanding)</a:t>
            </a:r>
          </a:p>
          <a:p>
            <a:pPr lvl="1"/>
            <a:r>
              <a:rPr lang="en-US" sz="2400" dirty="0" smtClean="0"/>
              <a:t>ELECTRA (</a:t>
            </a:r>
            <a:r>
              <a:rPr lang="en-US" sz="2400" dirty="0"/>
              <a:t>Pre-training Text Encoders as Discriminators Rather Than </a:t>
            </a:r>
            <a:r>
              <a:rPr lang="en-US" sz="2400" dirty="0" smtClean="0"/>
              <a:t>Generators)</a:t>
            </a:r>
          </a:p>
          <a:p>
            <a:pPr lvl="1"/>
            <a:r>
              <a:rPr lang="en-US" sz="2400" dirty="0" smtClean="0"/>
              <a:t>RoBERTa (</a:t>
            </a:r>
            <a:r>
              <a:rPr lang="en-US" sz="2400" dirty="0"/>
              <a:t>A Robustly Optimized BERT Pretraining </a:t>
            </a:r>
            <a:r>
              <a:rPr lang="en-US" sz="2400" dirty="0" smtClean="0"/>
              <a:t>Approach)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Large Language Models (Generative AI):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GPT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Llama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endParaRPr lang="en-US" sz="2400" dirty="0" smtClean="0">
              <a:solidFill>
                <a:srgbClr val="FF0000"/>
              </a:solidFill>
            </a:endParaRPr>
          </a:p>
          <a:p>
            <a:pPr lvl="1"/>
            <a:endParaRPr lang="en-US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56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Word2Vec </a:t>
            </a:r>
            <a:r>
              <a:rPr lang="en-US" dirty="0" smtClean="0"/>
              <a:t>(1/8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Basic Structure:</a:t>
            </a: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Impactful Hyperparameters:</a:t>
            </a:r>
          </a:p>
          <a:p>
            <a:pPr lvl="1" fontAlgn="base"/>
            <a:r>
              <a:rPr lang="en-US" sz="2400" b="1" dirty="0" smtClean="0"/>
              <a:t>Window</a:t>
            </a:r>
            <a:r>
              <a:rPr lang="en-US" sz="2400" dirty="0" smtClean="0"/>
              <a:t>: Maximum </a:t>
            </a:r>
            <a:r>
              <a:rPr lang="en-US" sz="2400" dirty="0"/>
              <a:t>distance between the current and predicted word within a sentence.</a:t>
            </a:r>
          </a:p>
          <a:p>
            <a:pPr lvl="1" fontAlgn="base"/>
            <a:r>
              <a:rPr lang="en-US" sz="2400" b="1" dirty="0" err="1" smtClean="0"/>
              <a:t>min_count</a:t>
            </a:r>
            <a:r>
              <a:rPr lang="en-US" sz="2400" dirty="0" smtClean="0"/>
              <a:t>: Ignores </a:t>
            </a:r>
            <a:r>
              <a:rPr lang="en-US" sz="2400" dirty="0"/>
              <a:t>all words with total frequency lower than this</a:t>
            </a:r>
            <a:r>
              <a:rPr lang="en-US" sz="2400" dirty="0" smtClean="0"/>
              <a:t>.</a:t>
            </a:r>
          </a:p>
          <a:p>
            <a:pPr lvl="1" fontAlgn="base"/>
            <a:r>
              <a:rPr lang="en-US" sz="2400" b="1" dirty="0" smtClean="0"/>
              <a:t>Embedding dimension (N)</a:t>
            </a:r>
          </a:p>
          <a:p>
            <a:pPr lvl="1" fontAlgn="base"/>
            <a:endParaRPr lang="en-US" sz="2400" dirty="0" smtClean="0"/>
          </a:p>
          <a:p>
            <a:pPr lvl="1" fontAlgn="base"/>
            <a:endParaRPr lang="en-US" sz="2400" dirty="0"/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</a:t>
            </a:r>
            <a:endParaRPr lang="en-US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dirty="0" smtClean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76400"/>
            <a:ext cx="4800600" cy="2526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505200" y="1676400"/>
            <a:ext cx="285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Trainable Matrix: </a:t>
            </a:r>
            <a:r>
              <a:rPr lang="en-US" i="1" dirty="0" smtClean="0"/>
              <a:t>W &amp; W’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39000" y="2730944"/>
                <a:ext cx="2014847" cy="417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</a:rPr>
                      <m:t>= </m:t>
                    </m:r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  <m:r>
                          <a:rPr lang="en-US" b="0" i="1" baseline="-25000" smtClean="0"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 smtClean="0"/>
                  <a:t> /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/>
                          </a:rPr>
                          <m:t>𝑉</m:t>
                        </m:r>
                      </m:sup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𝑦</m:t>
                            </m:r>
                            <m:r>
                              <a:rPr lang="en-US" b="0" i="1" baseline="-25000" dirty="0" smtClean="0">
                                <a:latin typeface="Cambria Math"/>
                              </a:rPr>
                              <m:t>𝑗</m:t>
                            </m:r>
                          </m:sup>
                        </m:sSup>
                      </m:e>
                    </m:nary>
                    <m:r>
                      <a:rPr lang="en-US" b="0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2730944"/>
                <a:ext cx="2014847" cy="417358"/>
              </a:xfrm>
              <a:prstGeom prst="rect">
                <a:avLst/>
              </a:prstGeom>
              <a:blipFill rotWithShape="1">
                <a:blip r:embed="rId3"/>
                <a:stretch>
                  <a:fillRect t="-102941" r="-4545" b="-1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28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Word2Vec </a:t>
            </a:r>
            <a:r>
              <a:rPr lang="en-US" dirty="0" smtClean="0"/>
              <a:t>(2/8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Variants: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endParaRPr lang="en-US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dirty="0" smtClean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828800"/>
            <a:ext cx="3272136" cy="438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 descr="http://www.claudiobellei.com/2018/01/06/backprop-word2vec/CBOW_multiwor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57400"/>
            <a:ext cx="374904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09800" y="6019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CBOW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638800" y="595526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Skip-Gram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4588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Word2Vec </a:t>
            </a:r>
            <a:r>
              <a:rPr lang="en-US" dirty="0" smtClean="0"/>
              <a:t>(3/8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 Function for Skip-Gram (loss):</a:t>
            </a: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</a:p>
          <a:p>
            <a:pPr marL="457200" lvl="1" indent="0">
              <a:buNone/>
            </a:pPr>
            <a:endParaRPr lang="en-US" sz="2400" dirty="0" smtClean="0">
              <a:solidFill>
                <a:srgbClr val="FF0000"/>
              </a:solidFill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444" y="1981200"/>
            <a:ext cx="6217920" cy="830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03" y="2590800"/>
            <a:ext cx="8351197" cy="155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" y="3886199"/>
            <a:ext cx="7952850" cy="192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16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Word2Vec </a:t>
            </a:r>
            <a:r>
              <a:rPr lang="en-US" dirty="0" smtClean="0"/>
              <a:t>(4/8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816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Example:</a:t>
            </a: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</a:p>
          <a:p>
            <a:pPr marL="457200" lvl="1" indent="0">
              <a:buNone/>
            </a:pPr>
            <a:endParaRPr lang="en-US" sz="2400" dirty="0" smtClean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2057400"/>
            <a:ext cx="8086725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667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Word2Vec (5/8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Python Scripting:</a:t>
            </a:r>
          </a:p>
          <a:p>
            <a:pPr lvl="1"/>
            <a:r>
              <a:rPr lang="en-US" b="1" dirty="0" smtClean="0"/>
              <a:t>Installations command for </a:t>
            </a:r>
            <a:r>
              <a:rPr lang="en-US" b="1" dirty="0"/>
              <a:t>U</a:t>
            </a:r>
            <a:r>
              <a:rPr lang="en-US" b="1" dirty="0" smtClean="0"/>
              <a:t>buntu</a:t>
            </a:r>
          </a:p>
          <a:p>
            <a:pPr lvl="2"/>
            <a:r>
              <a:rPr lang="en-US" b="1" dirty="0"/>
              <a:t> </a:t>
            </a:r>
            <a:r>
              <a:rPr lang="en-US" b="1" dirty="0" smtClean="0"/>
              <a:t>Step1: Install </a:t>
            </a:r>
            <a:r>
              <a:rPr lang="en-US" b="1" dirty="0" err="1" smtClean="0"/>
              <a:t>Numpy</a:t>
            </a:r>
            <a:endParaRPr lang="en-US" b="1" dirty="0" smtClean="0"/>
          </a:p>
          <a:p>
            <a:pPr lvl="3"/>
            <a:r>
              <a:rPr lang="en-US" dirty="0"/>
              <a:t>pip install numpy‑1.13.1+mkl‑cp34‑cp34m‑win32.whl</a:t>
            </a:r>
            <a:endParaRPr lang="en-US" b="1" dirty="0" smtClean="0"/>
          </a:p>
          <a:p>
            <a:pPr lvl="2"/>
            <a:r>
              <a:rPr lang="en-US" b="1" dirty="0" smtClean="0"/>
              <a:t>Step2: </a:t>
            </a:r>
            <a:r>
              <a:rPr lang="en-US" b="1" dirty="0"/>
              <a:t>Install </a:t>
            </a:r>
            <a:r>
              <a:rPr lang="en-US" b="1" dirty="0" err="1" smtClean="0"/>
              <a:t>SciPy</a:t>
            </a:r>
            <a:endParaRPr lang="en-US" b="1" dirty="0" smtClean="0"/>
          </a:p>
          <a:p>
            <a:pPr lvl="3"/>
            <a:r>
              <a:rPr lang="en-US" dirty="0"/>
              <a:t>pip install scipy‑0.19.1‑cp34‑cp34m‑win32.whl</a:t>
            </a:r>
            <a:endParaRPr lang="en-US" b="1" dirty="0"/>
          </a:p>
          <a:p>
            <a:pPr lvl="2"/>
            <a:r>
              <a:rPr lang="en-US" b="1" dirty="0" smtClean="0"/>
              <a:t>Step3: </a:t>
            </a:r>
          </a:p>
          <a:p>
            <a:pPr lvl="3"/>
            <a:r>
              <a:rPr lang="en-US" dirty="0"/>
              <a:t>pip install </a:t>
            </a:r>
            <a:r>
              <a:rPr lang="en-US" dirty="0" smtClean="0"/>
              <a:t>gensim‑2.3.0‑cp34‑cp34m‑win32.whl</a:t>
            </a:r>
          </a:p>
          <a:p>
            <a:pPr marL="1371600" lvl="3" indent="0">
              <a:buNone/>
            </a:pPr>
            <a:endParaRPr lang="en-US" b="1" dirty="0" smtClean="0"/>
          </a:p>
          <a:p>
            <a:pPr lvl="2"/>
            <a:endParaRPr lang="en-US" b="1" dirty="0" smtClean="0"/>
          </a:p>
          <a:p>
            <a:pPr lvl="3"/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94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Word2Vec (6/8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Python Scripting:</a:t>
            </a:r>
          </a:p>
          <a:p>
            <a:pPr lvl="1"/>
            <a:r>
              <a:rPr lang="en-US" b="1" dirty="0" smtClean="0"/>
              <a:t>Train Word2Vec</a:t>
            </a:r>
          </a:p>
          <a:p>
            <a:pPr lvl="2"/>
            <a:r>
              <a:rPr lang="en-US" b="1" dirty="0"/>
              <a:t>from</a:t>
            </a:r>
            <a:r>
              <a:rPr lang="en-US" dirty="0" smtClean="0"/>
              <a:t> </a:t>
            </a:r>
            <a:r>
              <a:rPr lang="en-US" b="1" dirty="0" err="1"/>
              <a:t>gensim.test.utils</a:t>
            </a:r>
            <a:r>
              <a:rPr lang="en-US" dirty="0" smtClean="0"/>
              <a:t> </a:t>
            </a:r>
            <a:r>
              <a:rPr lang="en-US" b="1" dirty="0"/>
              <a:t>import</a:t>
            </a:r>
            <a:r>
              <a:rPr lang="en-US" dirty="0" smtClean="0"/>
              <a:t> </a:t>
            </a:r>
            <a:r>
              <a:rPr lang="en-US" dirty="0" err="1" smtClean="0">
                <a:effectLst/>
              </a:rPr>
              <a:t>common_texts</a:t>
            </a:r>
            <a:r>
              <a:rPr lang="en-US" dirty="0" smtClean="0"/>
              <a:t> </a:t>
            </a:r>
          </a:p>
          <a:p>
            <a:pPr lvl="2"/>
            <a:r>
              <a:rPr lang="en-US" b="1" dirty="0" smtClean="0"/>
              <a:t>from</a:t>
            </a:r>
            <a:r>
              <a:rPr lang="en-US" dirty="0" smtClean="0"/>
              <a:t> </a:t>
            </a:r>
            <a:r>
              <a:rPr lang="en-US" b="1" dirty="0" err="1"/>
              <a:t>gensim.models</a:t>
            </a:r>
            <a:r>
              <a:rPr lang="en-US" dirty="0" smtClean="0"/>
              <a:t> </a:t>
            </a:r>
            <a:r>
              <a:rPr lang="en-US" b="1" dirty="0"/>
              <a:t>import</a:t>
            </a:r>
            <a:r>
              <a:rPr lang="en-US" dirty="0" smtClean="0"/>
              <a:t> </a:t>
            </a:r>
            <a:r>
              <a:rPr lang="en-US" dirty="0" smtClean="0">
                <a:effectLst/>
              </a:rPr>
              <a:t>Word2Vec </a:t>
            </a:r>
          </a:p>
          <a:p>
            <a:pPr lvl="2"/>
            <a:r>
              <a:rPr lang="en-US" b="1" dirty="0" smtClean="0"/>
              <a:t> </a:t>
            </a:r>
            <a:r>
              <a:rPr lang="en-US" dirty="0" smtClean="0">
                <a:effectLst/>
              </a:rPr>
              <a:t>model</a:t>
            </a:r>
            <a:r>
              <a:rPr lang="en-US" dirty="0" smtClean="0"/>
              <a:t>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 smtClean="0">
                <a:effectLst/>
              </a:rPr>
              <a:t>Word2Vec(sentences</a:t>
            </a:r>
            <a:r>
              <a:rPr lang="en-US" dirty="0"/>
              <a:t>=</a:t>
            </a:r>
            <a:r>
              <a:rPr lang="en-US" dirty="0" err="1" smtClean="0">
                <a:effectLst/>
              </a:rPr>
              <a:t>common_texts</a:t>
            </a:r>
            <a:r>
              <a:rPr lang="en-US" dirty="0" smtClean="0">
                <a:effectLst/>
              </a:rPr>
              <a:t>,</a:t>
            </a:r>
            <a:r>
              <a:rPr lang="en-US" dirty="0" smtClean="0"/>
              <a:t> </a:t>
            </a:r>
            <a:r>
              <a:rPr lang="en-US" dirty="0" err="1" smtClean="0">
                <a:effectLst/>
              </a:rPr>
              <a:t>vector_size</a:t>
            </a:r>
            <a:r>
              <a:rPr lang="en-US" dirty="0" smtClean="0"/>
              <a:t>=100</a:t>
            </a:r>
            <a:r>
              <a:rPr lang="en-US" dirty="0" smtClean="0">
                <a:effectLst/>
              </a:rPr>
              <a:t>,</a:t>
            </a:r>
            <a:r>
              <a:rPr lang="en-US" dirty="0" smtClean="0"/>
              <a:t> </a:t>
            </a:r>
            <a:r>
              <a:rPr lang="en-US" dirty="0" smtClean="0">
                <a:effectLst/>
              </a:rPr>
              <a:t>window</a:t>
            </a:r>
            <a:r>
              <a:rPr lang="en-US" dirty="0"/>
              <a:t>=5</a:t>
            </a:r>
            <a:r>
              <a:rPr lang="en-US" dirty="0" smtClean="0">
                <a:effectLst/>
              </a:rPr>
              <a:t>,</a:t>
            </a:r>
            <a:r>
              <a:rPr lang="en-US" dirty="0" smtClean="0"/>
              <a:t> </a:t>
            </a:r>
            <a:r>
              <a:rPr lang="en-US" dirty="0" err="1" smtClean="0">
                <a:effectLst/>
              </a:rPr>
              <a:t>min_count</a:t>
            </a:r>
            <a:r>
              <a:rPr lang="en-US" dirty="0" smtClean="0"/>
              <a:t>=2</a:t>
            </a:r>
            <a:r>
              <a:rPr lang="en-US" dirty="0" smtClean="0">
                <a:effectLst/>
              </a:rPr>
              <a:t>,</a:t>
            </a:r>
            <a:r>
              <a:rPr lang="en-US" dirty="0" smtClean="0"/>
              <a:t> </a:t>
            </a:r>
            <a:r>
              <a:rPr lang="en-US" dirty="0" smtClean="0">
                <a:effectLst/>
              </a:rPr>
              <a:t>workers</a:t>
            </a:r>
            <a:r>
              <a:rPr lang="en-US" dirty="0" smtClean="0"/>
              <a:t>=8</a:t>
            </a:r>
            <a:r>
              <a:rPr lang="en-US" dirty="0" smtClean="0">
                <a:effectLst/>
              </a:rPr>
              <a:t>)</a:t>
            </a:r>
            <a:endParaRPr lang="en-US" dirty="0"/>
          </a:p>
          <a:p>
            <a:pPr lvl="2"/>
            <a:r>
              <a:rPr lang="en-US" dirty="0" err="1" smtClean="0">
                <a:effectLst/>
              </a:rPr>
              <a:t>model</a:t>
            </a:r>
            <a:r>
              <a:rPr lang="en-US" dirty="0" err="1" smtClean="0"/>
              <a:t>.</a:t>
            </a:r>
            <a:r>
              <a:rPr lang="en-US" dirty="0" err="1" smtClean="0">
                <a:effectLst/>
              </a:rPr>
              <a:t>save</a:t>
            </a:r>
            <a:r>
              <a:rPr lang="en-US" dirty="0" smtClean="0">
                <a:effectLst/>
              </a:rPr>
              <a:t>(</a:t>
            </a:r>
            <a:r>
              <a:rPr lang="en-US" dirty="0"/>
              <a:t>"word2vec.model</a:t>
            </a:r>
            <a:r>
              <a:rPr lang="en-US" dirty="0" smtClean="0"/>
              <a:t>"</a:t>
            </a:r>
            <a:r>
              <a:rPr lang="en-US" dirty="0" smtClean="0">
                <a:effectLst/>
              </a:rPr>
              <a:t>)</a:t>
            </a:r>
            <a:endParaRPr lang="en-US" b="1" dirty="0" smtClean="0"/>
          </a:p>
          <a:p>
            <a:pPr lvl="3"/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Word2Vec (7/8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525963"/>
          </a:xfrm>
        </p:spPr>
        <p:txBody>
          <a:bodyPr/>
          <a:lstStyle/>
          <a:p>
            <a:r>
              <a:rPr lang="en-US" b="1" dirty="0" smtClean="0"/>
              <a:t>Python Scripting:</a:t>
            </a:r>
          </a:p>
          <a:p>
            <a:pPr lvl="1"/>
            <a:r>
              <a:rPr lang="en-US" b="1" dirty="0" smtClean="0"/>
              <a:t>Test Word2Vec</a:t>
            </a:r>
          </a:p>
          <a:p>
            <a:pPr lvl="2"/>
            <a:r>
              <a:rPr lang="en-US" dirty="0" smtClean="0">
                <a:effectLst/>
              </a:rPr>
              <a:t>model</a:t>
            </a:r>
            <a:r>
              <a:rPr lang="en-US" dirty="0" smtClean="0"/>
              <a:t>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 smtClean="0">
                <a:effectLst/>
              </a:rPr>
              <a:t>Word2Vec</a:t>
            </a:r>
            <a:r>
              <a:rPr lang="en-US" dirty="0"/>
              <a:t>.</a:t>
            </a:r>
            <a:r>
              <a:rPr lang="en-US" dirty="0" smtClean="0">
                <a:effectLst/>
              </a:rPr>
              <a:t>load(</a:t>
            </a:r>
            <a:r>
              <a:rPr lang="en-US" dirty="0"/>
              <a:t>"word2vec.model</a:t>
            </a:r>
            <a:r>
              <a:rPr lang="en-US" dirty="0" smtClean="0"/>
              <a:t>"</a:t>
            </a:r>
            <a:r>
              <a:rPr lang="en-US" dirty="0" smtClean="0">
                <a:effectLst/>
              </a:rPr>
              <a:t>)</a:t>
            </a:r>
          </a:p>
          <a:p>
            <a:pPr lvl="2"/>
            <a:r>
              <a:rPr lang="en-US" dirty="0" smtClean="0">
                <a:effectLst/>
              </a:rPr>
              <a:t>vector</a:t>
            </a:r>
            <a:r>
              <a:rPr lang="en-US" dirty="0" smtClean="0"/>
              <a:t>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 err="1" smtClean="0">
                <a:effectLst/>
              </a:rPr>
              <a:t>model</a:t>
            </a:r>
            <a:r>
              <a:rPr lang="en-US" dirty="0" err="1"/>
              <a:t>.</a:t>
            </a:r>
            <a:r>
              <a:rPr lang="en-US" dirty="0" err="1" smtClean="0">
                <a:effectLst/>
              </a:rPr>
              <a:t>wv</a:t>
            </a:r>
            <a:r>
              <a:rPr lang="en-US" dirty="0" smtClean="0">
                <a:effectLst/>
              </a:rPr>
              <a:t>[</a:t>
            </a:r>
            <a:r>
              <a:rPr lang="en-US" dirty="0"/>
              <a:t>'computer</a:t>
            </a:r>
            <a:r>
              <a:rPr lang="en-US" dirty="0" smtClean="0"/>
              <a:t>'</a:t>
            </a:r>
            <a:r>
              <a:rPr lang="en-US" dirty="0" smtClean="0">
                <a:effectLst/>
              </a:rPr>
              <a:t>]</a:t>
            </a:r>
          </a:p>
          <a:p>
            <a:pPr lvl="2"/>
            <a:r>
              <a:rPr lang="en-US" dirty="0" err="1" smtClean="0">
                <a:effectLst/>
              </a:rPr>
              <a:t>sims</a:t>
            </a:r>
            <a:r>
              <a:rPr lang="en-US" dirty="0" smtClean="0"/>
              <a:t>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 err="1" smtClean="0">
                <a:effectLst/>
              </a:rPr>
              <a:t>model</a:t>
            </a:r>
            <a:r>
              <a:rPr lang="en-US" dirty="0" err="1"/>
              <a:t>.</a:t>
            </a:r>
            <a:r>
              <a:rPr lang="en-US" dirty="0" err="1" smtClean="0">
                <a:effectLst/>
              </a:rPr>
              <a:t>wv</a:t>
            </a:r>
            <a:r>
              <a:rPr lang="en-US" dirty="0" err="1"/>
              <a:t>.</a:t>
            </a:r>
            <a:r>
              <a:rPr lang="en-US" dirty="0" err="1" smtClean="0">
                <a:effectLst/>
              </a:rPr>
              <a:t>most_similar</a:t>
            </a:r>
            <a:r>
              <a:rPr lang="en-US" dirty="0" smtClean="0">
                <a:effectLst/>
              </a:rPr>
              <a:t>(</a:t>
            </a:r>
            <a:r>
              <a:rPr lang="en-US" dirty="0"/>
              <a:t>'computer'</a:t>
            </a:r>
            <a:r>
              <a:rPr lang="en-US" dirty="0" smtClean="0">
                <a:effectLst/>
              </a:rPr>
              <a:t>,</a:t>
            </a:r>
            <a:r>
              <a:rPr lang="en-US" dirty="0" smtClean="0"/>
              <a:t> </a:t>
            </a:r>
            <a:r>
              <a:rPr lang="en-US" dirty="0" err="1" smtClean="0">
                <a:effectLst/>
              </a:rPr>
              <a:t>topn</a:t>
            </a:r>
            <a:r>
              <a:rPr lang="en-US" dirty="0"/>
              <a:t>=10</a:t>
            </a:r>
            <a:r>
              <a:rPr lang="en-US" dirty="0" smtClean="0">
                <a:effectLst/>
              </a:rPr>
              <a:t>)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  <a:effectLst/>
              </a:rPr>
              <a:t>URL: </a:t>
            </a:r>
            <a:r>
              <a:rPr lang="en-US" dirty="0" smtClean="0">
                <a:solidFill>
                  <a:srgbClr val="00B050"/>
                </a:solidFill>
                <a:effectLst/>
              </a:rPr>
              <a:t>https://radimrehurek.com/gensim/models/word2vec.html</a:t>
            </a:r>
          </a:p>
        </p:txBody>
      </p:sp>
    </p:spTree>
    <p:extLst>
      <p:ext uri="{BB962C8B-B14F-4D97-AF65-F5344CB8AC3E}">
        <p14:creationId xmlns:p14="http://schemas.microsoft.com/office/powerpoint/2010/main" val="30249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Word2Vec (8/8)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525963"/>
          </a:xfrm>
        </p:spPr>
        <p:txBody>
          <a:bodyPr/>
          <a:lstStyle/>
          <a:p>
            <a:r>
              <a:rPr lang="en-US" dirty="0" smtClean="0">
                <a:solidFill>
                  <a:srgbClr val="00B050"/>
                </a:solidFill>
                <a:effectLst/>
              </a:rPr>
              <a:t>Example: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478986"/>
              </p:ext>
            </p:extLst>
          </p:nvPr>
        </p:nvGraphicFramePr>
        <p:xfrm>
          <a:off x="457200" y="2811621"/>
          <a:ext cx="8534400" cy="1828800"/>
        </p:xfrm>
        <a:graphic>
          <a:graphicData uri="http://schemas.openxmlformats.org/drawingml/2006/table">
            <a:tbl>
              <a:tblPr/>
              <a:tblGrid>
                <a:gridCol w="1422400"/>
                <a:gridCol w="1422400"/>
                <a:gridCol w="1422400"/>
                <a:gridCol w="1422400"/>
                <a:gridCol w="1422400"/>
                <a:gridCol w="14224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Dimension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Dimension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Dimension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Dimension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-0.15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Queen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-0.12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38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GloVe: </a:t>
            </a:r>
            <a:r>
              <a:rPr lang="en-US" dirty="0"/>
              <a:t>Global Vectors for Word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525963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 err="1" smtClean="0"/>
              <a:t>GLoVe</a:t>
            </a:r>
            <a:r>
              <a:rPr lang="en-US" dirty="0" smtClean="0"/>
              <a:t>: Unsupervised </a:t>
            </a:r>
            <a:r>
              <a:rPr lang="en-US" dirty="0"/>
              <a:t>learning algorithm used to generate word embeddings based on global word-word co-occurrence statistics from a corpus</a:t>
            </a:r>
            <a:r>
              <a:rPr lang="en-US" dirty="0" smtClean="0"/>
              <a:t>.</a:t>
            </a:r>
          </a:p>
          <a:p>
            <a:r>
              <a:rPr lang="en-US" dirty="0"/>
              <a:t>Details: https://nlp.stanford.edu/projects/glove/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>
              <a:solidFill>
                <a:srgbClr val="00B05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441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FastText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  <a:effectLst/>
                <a:hlinkClick r:id="rId2"/>
              </a:rPr>
              <a:t>https://pypi.org/project/fasttext/</a:t>
            </a:r>
            <a:endParaRPr lang="en-US" dirty="0" smtClean="0">
              <a:solidFill>
                <a:srgbClr val="00B050"/>
              </a:solidFill>
              <a:effectLst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  <a:effectLst/>
              </a:rPr>
              <a:t>https://radimrehurek.com/gensim/models/fasttext.html</a:t>
            </a:r>
          </a:p>
        </p:txBody>
      </p:sp>
    </p:spTree>
    <p:extLst>
      <p:ext uri="{BB962C8B-B14F-4D97-AF65-F5344CB8AC3E}">
        <p14:creationId xmlns:p14="http://schemas.microsoft.com/office/powerpoint/2010/main" val="226559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effectLst/>
              </a:rPr>
              <a:t>Next word Prediction</a:t>
            </a:r>
          </a:p>
          <a:p>
            <a:r>
              <a:rPr lang="en-US" dirty="0" smtClean="0"/>
              <a:t>Semantic Similarity</a:t>
            </a:r>
          </a:p>
          <a:p>
            <a:r>
              <a:rPr lang="en-US" dirty="0" smtClean="0">
                <a:effectLst/>
              </a:rPr>
              <a:t>Syntactic Similarity</a:t>
            </a:r>
          </a:p>
          <a:p>
            <a:r>
              <a:rPr lang="en-US" dirty="0" smtClean="0"/>
              <a:t>Relatedness</a:t>
            </a:r>
          </a:p>
          <a:p>
            <a:r>
              <a:rPr lang="en-US" dirty="0"/>
              <a:t>Text </a:t>
            </a:r>
            <a:r>
              <a:rPr lang="en-US" dirty="0" smtClean="0"/>
              <a:t>Classification</a:t>
            </a:r>
          </a:p>
          <a:p>
            <a:r>
              <a:rPr lang="en-US" dirty="0" smtClean="0"/>
              <a:t>Machine Translation</a:t>
            </a:r>
          </a:p>
          <a:p>
            <a:r>
              <a:rPr lang="en-US" dirty="0" smtClean="0"/>
              <a:t>Information Retrieval</a:t>
            </a:r>
          </a:p>
          <a:p>
            <a:r>
              <a:rPr lang="en-US" dirty="0" smtClean="0"/>
              <a:t>Recommendation Systems</a:t>
            </a:r>
          </a:p>
          <a:p>
            <a:r>
              <a:rPr lang="en-US" dirty="0" smtClean="0"/>
              <a:t>Named </a:t>
            </a:r>
            <a:r>
              <a:rPr lang="en-US" dirty="0"/>
              <a:t>Entity </a:t>
            </a:r>
            <a:r>
              <a:rPr lang="en-US" dirty="0" smtClean="0"/>
              <a:t>Recognition</a:t>
            </a:r>
          </a:p>
          <a:p>
            <a:r>
              <a:rPr lang="en-US" dirty="0" smtClean="0"/>
              <a:t>Semantic </a:t>
            </a:r>
            <a:r>
              <a:rPr lang="en-US" dirty="0"/>
              <a:t>Search</a:t>
            </a:r>
            <a:endParaRPr lang="en-US" dirty="0" smtClean="0"/>
          </a:p>
          <a:p>
            <a:endParaRPr lang="en-US" dirty="0" smtClean="0">
              <a:effectLst/>
            </a:endParaRPr>
          </a:p>
          <a:p>
            <a:pPr marL="0" indent="0">
              <a:buNone/>
            </a:pPr>
            <a:endParaRPr lang="en-US" dirty="0" smtClean="0">
              <a:effectLst/>
            </a:endParaRPr>
          </a:p>
          <a:p>
            <a:pPr marL="0" indent="0">
              <a:buNone/>
            </a:pPr>
            <a:endParaRPr lang="en-US" dirty="0" smtClean="0">
              <a:solidFill>
                <a:srgbClr val="00B05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7057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Embedding Model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525963"/>
          </a:xfrm>
        </p:spPr>
        <p:txBody>
          <a:bodyPr/>
          <a:lstStyle/>
          <a:p>
            <a:r>
              <a:rPr lang="en-US" dirty="0" smtClean="0">
                <a:effectLst/>
              </a:rPr>
              <a:t>Intrinsic Evaluation</a:t>
            </a:r>
          </a:p>
          <a:p>
            <a:pPr lvl="1"/>
            <a:r>
              <a:rPr lang="en-US" dirty="0" smtClean="0">
                <a:effectLst/>
              </a:rPr>
              <a:t>Spearman</a:t>
            </a:r>
          </a:p>
          <a:p>
            <a:pPr lvl="1"/>
            <a:r>
              <a:rPr lang="en-US" dirty="0" smtClean="0"/>
              <a:t>Pearson</a:t>
            </a:r>
          </a:p>
          <a:p>
            <a:pPr lvl="1"/>
            <a:r>
              <a:rPr lang="en-US" dirty="0" smtClean="0">
                <a:effectLst/>
              </a:rPr>
              <a:t>Cosine Similarity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aclanthology.org/2020.icon-main.61.pdf</a:t>
            </a:r>
            <a:endParaRPr lang="en-US" dirty="0" smtClean="0"/>
          </a:p>
          <a:p>
            <a:pPr lvl="1"/>
            <a:r>
              <a:rPr lang="en-US" dirty="0"/>
              <a:t>https://www.sciencedirect.com/science/article/pii/S0957417421008174</a:t>
            </a:r>
            <a:endParaRPr lang="en-US" dirty="0" smtClean="0"/>
          </a:p>
          <a:p>
            <a:pPr lvl="1"/>
            <a:endParaRPr lang="en-US" dirty="0" smtClean="0">
              <a:effectLst/>
            </a:endParaRPr>
          </a:p>
          <a:p>
            <a:pPr marL="0" indent="0">
              <a:buNone/>
            </a:pPr>
            <a:endParaRPr lang="en-US" dirty="0" smtClean="0">
              <a:effectLst/>
            </a:endParaRPr>
          </a:p>
          <a:p>
            <a:pPr marL="0" indent="0">
              <a:buNone/>
            </a:pPr>
            <a:endParaRPr lang="en-US" dirty="0" smtClean="0">
              <a:solidFill>
                <a:srgbClr val="00B05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768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772</TotalTime>
  <Words>628</Words>
  <Application>Microsoft Office PowerPoint</Application>
  <PresentationFormat>On-screen Show (4:3)</PresentationFormat>
  <Paragraphs>172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Word Embeddings(1/3) </vt:lpstr>
      <vt:lpstr>Word Embeddings(2/3) </vt:lpstr>
      <vt:lpstr>Word Embeddings(3/3) </vt:lpstr>
      <vt:lpstr>Embedding Methods (1/2)</vt:lpstr>
      <vt:lpstr>Embedding Methods (2/2)</vt:lpstr>
      <vt:lpstr>Word2Vec (1/8)</vt:lpstr>
      <vt:lpstr>Word2Vec (2/8)</vt:lpstr>
      <vt:lpstr>Word2Vec (3/8)</vt:lpstr>
      <vt:lpstr>Word2Vec (4/8)</vt:lpstr>
      <vt:lpstr>Word2Vec (5/8)</vt:lpstr>
      <vt:lpstr>Word2Vec (6/8)</vt:lpstr>
      <vt:lpstr>Word2Vec (7/8)</vt:lpstr>
      <vt:lpstr>Word2Vec (8/8) </vt:lpstr>
      <vt:lpstr>GloVe: Global Vectors for Word Representation</vt:lpstr>
      <vt:lpstr>FastText</vt:lpstr>
      <vt:lpstr>Applications</vt:lpstr>
      <vt:lpstr>Embedding Model Evaluation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90</cp:revision>
  <dcterms:created xsi:type="dcterms:W3CDTF">2006-08-16T00:00:00Z</dcterms:created>
  <dcterms:modified xsi:type="dcterms:W3CDTF">2024-07-06T02:20:47Z</dcterms:modified>
</cp:coreProperties>
</file>